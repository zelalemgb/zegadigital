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572000" cy="4572000"/>
          </a:xfrm>
          <a:prstGeom prst="ellipse">
            <a:avLst/>
          </a:prstGeom>
          <a:solidFill>
            <a:srgbClr val="0B6E4F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291840"/>
            <a:ext cx="2926080" cy="2926080"/>
          </a:xfrm>
          <a:prstGeom prst="ellipse">
            <a:avLst/>
          </a:prstGeom>
          <a:solidFill>
            <a:srgbClr val="F2A900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777240"/>
            <a:ext cx="914400" cy="91440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1014984"/>
            <a:ext cx="438912" cy="4389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74520" y="868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F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ZEGA DIGITAL  ·  ዜጋ ዲጂታል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2286000"/>
            <a:ext cx="8686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Digital-Literacy</a:t>
            </a:r>
            <a:endParaRPr lang="en-US" sz="4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WhatsApp Bot</a:t>
            </a:r>
            <a:endParaRPr lang="en-US" sz="4600" dirty="0"/>
          </a:p>
        </p:txBody>
      </p:sp>
      <p:sp>
        <p:nvSpPr>
          <p:cNvPr id="8" name="Text 5"/>
          <p:cNvSpPr/>
          <p:nvPr/>
        </p:nvSpPr>
        <p:spPr>
          <a:xfrm>
            <a:off x="822960" y="41605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F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· technology · modules · and what’s next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822960" y="5029200"/>
            <a:ext cx="502920" cy="54864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521208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digital skills to Ethiopians — built on Meta’s My Digital World content, delivered in English, Amharic &amp; Afaan Oromo.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21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guided, menu-driven journey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learner moves through the same simple path. They just reply with numbers — no app to install, no account to create.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1389888" cy="1920240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697480"/>
            <a:ext cx="1389888" cy="109728"/>
          </a:xfrm>
          <a:prstGeom prst="rect">
            <a:avLst/>
          </a:prstGeom>
          <a:solidFill>
            <a:srgbClr val="0B6E4F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" y="2990088"/>
            <a:ext cx="658368" cy="658368"/>
          </a:xfrm>
          <a:prstGeom prst="ellipse">
            <a:avLst/>
          </a:prstGeom>
          <a:solidFill>
            <a:srgbClr val="F4F7F5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7016" y="3161264"/>
            <a:ext cx="316017" cy="31601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721608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1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5800" y="4032504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link or “Hi”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011680" y="3154680"/>
            <a:ext cx="201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9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2194560" y="2697480"/>
            <a:ext cx="1389888" cy="1920240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194560" y="2697480"/>
            <a:ext cx="1389888" cy="109728"/>
          </a:xfrm>
          <a:prstGeom prst="rect">
            <a:avLst/>
          </a:prstGeom>
          <a:solidFill>
            <a:srgbClr val="0B6E4F"/>
          </a:solidFill>
          <a:ln/>
        </p:spPr>
      </p:sp>
      <p:sp>
        <p:nvSpPr>
          <p:cNvPr id="14" name="Shape 11"/>
          <p:cNvSpPr/>
          <p:nvPr/>
        </p:nvSpPr>
        <p:spPr>
          <a:xfrm>
            <a:off x="2560320" y="2990088"/>
            <a:ext cx="658368" cy="658368"/>
          </a:xfrm>
          <a:prstGeom prst="ellipse">
            <a:avLst/>
          </a:prstGeom>
          <a:solidFill>
            <a:srgbClr val="F4F7F5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1496" y="3161264"/>
            <a:ext cx="316017" cy="31601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194560" y="3721608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1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Language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2240280" y="4032504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· AM · OM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3566160" y="3154680"/>
            <a:ext cx="201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9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9" name="Shape 15"/>
          <p:cNvSpPr/>
          <p:nvPr/>
        </p:nvSpPr>
        <p:spPr>
          <a:xfrm>
            <a:off x="3749040" y="2697480"/>
            <a:ext cx="1389888" cy="1920240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3749040" y="2697480"/>
            <a:ext cx="1389888" cy="109728"/>
          </a:xfrm>
          <a:prstGeom prst="rect">
            <a:avLst/>
          </a:prstGeom>
          <a:solidFill>
            <a:srgbClr val="0B6E4F"/>
          </a:solidFill>
          <a:ln/>
        </p:spPr>
      </p:sp>
      <p:sp>
        <p:nvSpPr>
          <p:cNvPr id="21" name="Shape 17"/>
          <p:cNvSpPr/>
          <p:nvPr/>
        </p:nvSpPr>
        <p:spPr>
          <a:xfrm>
            <a:off x="4114800" y="2990088"/>
            <a:ext cx="658368" cy="658368"/>
          </a:xfrm>
          <a:prstGeom prst="ellipse">
            <a:avLst/>
          </a:prstGeom>
          <a:solidFill>
            <a:srgbClr val="F4F7F5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5976" y="3161264"/>
            <a:ext cx="316017" cy="316017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749040" y="3721608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1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3794760" y="4032504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or Adult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5120640" y="3154680"/>
            <a:ext cx="201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9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6" name="Shape 21"/>
          <p:cNvSpPr/>
          <p:nvPr/>
        </p:nvSpPr>
        <p:spPr>
          <a:xfrm>
            <a:off x="5303520" y="2697480"/>
            <a:ext cx="1389888" cy="1920240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5303520" y="2697480"/>
            <a:ext cx="1389888" cy="109728"/>
          </a:xfrm>
          <a:prstGeom prst="rect">
            <a:avLst/>
          </a:prstGeom>
          <a:solidFill>
            <a:srgbClr val="0B6E4F"/>
          </a:solidFill>
          <a:ln/>
        </p:spPr>
      </p:sp>
      <p:sp>
        <p:nvSpPr>
          <p:cNvPr id="28" name="Shape 23"/>
          <p:cNvSpPr/>
          <p:nvPr/>
        </p:nvSpPr>
        <p:spPr>
          <a:xfrm>
            <a:off x="5669280" y="2990088"/>
            <a:ext cx="658368" cy="658368"/>
          </a:xfrm>
          <a:prstGeom prst="ellipse">
            <a:avLst/>
          </a:prstGeom>
          <a:solidFill>
            <a:srgbClr val="F4F7F5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0456" y="3161264"/>
            <a:ext cx="316017" cy="316017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303520" y="3721608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1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5349240" y="4032504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topic</a:t>
            </a:r>
            <a:endParaRPr lang="en-US" sz="1050" dirty="0"/>
          </a:p>
        </p:txBody>
      </p:sp>
      <p:sp>
        <p:nvSpPr>
          <p:cNvPr id="32" name="Text 26"/>
          <p:cNvSpPr/>
          <p:nvPr/>
        </p:nvSpPr>
        <p:spPr>
          <a:xfrm>
            <a:off x="6675120" y="3154680"/>
            <a:ext cx="201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9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3" name="Shape 27"/>
          <p:cNvSpPr/>
          <p:nvPr/>
        </p:nvSpPr>
        <p:spPr>
          <a:xfrm>
            <a:off x="6858000" y="2697480"/>
            <a:ext cx="1389888" cy="1920240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6858000" y="2697480"/>
            <a:ext cx="1389888" cy="109728"/>
          </a:xfrm>
          <a:prstGeom prst="rect">
            <a:avLst/>
          </a:prstGeom>
          <a:solidFill>
            <a:srgbClr val="0B6E4F"/>
          </a:solidFill>
          <a:ln/>
        </p:spPr>
      </p:sp>
      <p:sp>
        <p:nvSpPr>
          <p:cNvPr id="35" name="Shape 29"/>
          <p:cNvSpPr/>
          <p:nvPr/>
        </p:nvSpPr>
        <p:spPr>
          <a:xfrm>
            <a:off x="7223760" y="2990088"/>
            <a:ext cx="658368" cy="658368"/>
          </a:xfrm>
          <a:prstGeom prst="ellipse">
            <a:avLst/>
          </a:prstGeom>
          <a:solidFill>
            <a:srgbClr val="F4F7F5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4936" y="3161264"/>
            <a:ext cx="316017" cy="316017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6858000" y="3721608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1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</a:t>
            </a:r>
            <a:endParaRPr lang="en-US" sz="1400" dirty="0"/>
          </a:p>
        </p:txBody>
      </p:sp>
      <p:sp>
        <p:nvSpPr>
          <p:cNvPr id="38" name="Text 31"/>
          <p:cNvSpPr/>
          <p:nvPr/>
        </p:nvSpPr>
        <p:spPr>
          <a:xfrm>
            <a:off x="6903720" y="4032504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bubble at a time</a:t>
            </a:r>
            <a:endParaRPr lang="en-US" sz="1050" dirty="0"/>
          </a:p>
        </p:txBody>
      </p:sp>
      <p:sp>
        <p:nvSpPr>
          <p:cNvPr id="39" name="Text 32"/>
          <p:cNvSpPr/>
          <p:nvPr/>
        </p:nvSpPr>
        <p:spPr>
          <a:xfrm>
            <a:off x="8229600" y="3154680"/>
            <a:ext cx="201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9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40" name="Shape 33"/>
          <p:cNvSpPr/>
          <p:nvPr/>
        </p:nvSpPr>
        <p:spPr>
          <a:xfrm>
            <a:off x="8412480" y="2697480"/>
            <a:ext cx="1389888" cy="1920240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8412480" y="2697480"/>
            <a:ext cx="1389888" cy="109728"/>
          </a:xfrm>
          <a:prstGeom prst="rect">
            <a:avLst/>
          </a:prstGeom>
          <a:solidFill>
            <a:srgbClr val="0B6E4F"/>
          </a:solidFill>
          <a:ln/>
        </p:spPr>
      </p:sp>
      <p:sp>
        <p:nvSpPr>
          <p:cNvPr id="42" name="Shape 35"/>
          <p:cNvSpPr/>
          <p:nvPr/>
        </p:nvSpPr>
        <p:spPr>
          <a:xfrm>
            <a:off x="8778240" y="2990088"/>
            <a:ext cx="658368" cy="658368"/>
          </a:xfrm>
          <a:prstGeom prst="ellipse">
            <a:avLst/>
          </a:prstGeom>
          <a:solidFill>
            <a:srgbClr val="F4F7F5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49416" y="3161264"/>
            <a:ext cx="316017" cy="316017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8412480" y="3721608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1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Quiz</a:t>
            </a:r>
            <a:endParaRPr lang="en-US" sz="1400" dirty="0"/>
          </a:p>
        </p:txBody>
      </p:sp>
      <p:sp>
        <p:nvSpPr>
          <p:cNvPr id="45" name="Text 37"/>
          <p:cNvSpPr/>
          <p:nvPr/>
        </p:nvSpPr>
        <p:spPr>
          <a:xfrm>
            <a:off x="8458200" y="4032504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feedback</a:t>
            </a:r>
            <a:endParaRPr lang="en-US" sz="1050" dirty="0"/>
          </a:p>
        </p:txBody>
      </p:sp>
      <p:sp>
        <p:nvSpPr>
          <p:cNvPr id="46" name="Text 38"/>
          <p:cNvSpPr/>
          <p:nvPr/>
        </p:nvSpPr>
        <p:spPr>
          <a:xfrm>
            <a:off x="9784080" y="3154680"/>
            <a:ext cx="2011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9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47" name="Shape 39"/>
          <p:cNvSpPr/>
          <p:nvPr/>
        </p:nvSpPr>
        <p:spPr>
          <a:xfrm>
            <a:off x="9966960" y="2697480"/>
            <a:ext cx="1389888" cy="1920240"/>
          </a:xfrm>
          <a:prstGeom prst="roundRect">
            <a:avLst>
              <a:gd name="adj" fmla="val 59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Shape 40"/>
          <p:cNvSpPr/>
          <p:nvPr/>
        </p:nvSpPr>
        <p:spPr>
          <a:xfrm>
            <a:off x="9966960" y="2697480"/>
            <a:ext cx="1389888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49" name="Shape 41"/>
          <p:cNvSpPr/>
          <p:nvPr/>
        </p:nvSpPr>
        <p:spPr>
          <a:xfrm>
            <a:off x="10332720" y="2990088"/>
            <a:ext cx="658368" cy="658368"/>
          </a:xfrm>
          <a:prstGeom prst="ellipse">
            <a:avLst/>
          </a:prstGeom>
          <a:solidFill>
            <a:srgbClr val="0A2E2A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5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03896" y="3161264"/>
            <a:ext cx="316017" cy="316017"/>
          </a:xfrm>
          <a:prstGeom prst="rect">
            <a:avLst/>
          </a:prstGeom>
        </p:spPr>
      </p:pic>
      <p:sp>
        <p:nvSpPr>
          <p:cNvPr id="51" name="Text 42"/>
          <p:cNvSpPr/>
          <p:nvPr/>
        </p:nvSpPr>
        <p:spPr>
          <a:xfrm>
            <a:off x="9966960" y="3721608"/>
            <a:ext cx="1389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21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Badge</a:t>
            </a:r>
            <a:endParaRPr lang="en-US" sz="1400" dirty="0"/>
          </a:p>
        </p:txBody>
      </p:sp>
      <p:sp>
        <p:nvSpPr>
          <p:cNvPr id="52" name="Text 43"/>
          <p:cNvSpPr/>
          <p:nvPr/>
        </p:nvSpPr>
        <p:spPr>
          <a:xfrm>
            <a:off x="10012680" y="4032504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&amp; reward</a:t>
            </a:r>
            <a:endParaRPr lang="en-US" sz="1050" dirty="0"/>
          </a:p>
        </p:txBody>
      </p:sp>
      <p:sp>
        <p:nvSpPr>
          <p:cNvPr id="53" name="Shape 44"/>
          <p:cNvSpPr/>
          <p:nvPr/>
        </p:nvSpPr>
        <p:spPr>
          <a:xfrm>
            <a:off x="640080" y="5074920"/>
            <a:ext cx="10908792" cy="960120"/>
          </a:xfrm>
          <a:prstGeom prst="roundRect">
            <a:avLst>
              <a:gd name="adj" fmla="val 7619"/>
            </a:avLst>
          </a:prstGeom>
          <a:solidFill>
            <a:srgbClr val="0A2E2A"/>
          </a:solidFill>
          <a:ln/>
        </p:spPr>
      </p:sp>
      <p:sp>
        <p:nvSpPr>
          <p:cNvPr id="54" name="Text 45"/>
          <p:cNvSpPr/>
          <p:nvPr/>
        </p:nvSpPr>
        <p:spPr>
          <a:xfrm>
            <a:off x="914400" y="52303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COMMANDS, ANYWHERE</a:t>
            </a:r>
            <a:endParaRPr lang="en-US" sz="1100" dirty="0"/>
          </a:p>
        </p:txBody>
      </p:sp>
      <p:sp>
        <p:nvSpPr>
          <p:cNvPr id="55" name="Text 46"/>
          <p:cNvSpPr/>
          <p:nvPr/>
        </p:nvSpPr>
        <p:spPr>
          <a:xfrm>
            <a:off x="914400" y="553212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</a:t>
            </a:r>
            <a:pPr indent="0" marL="0">
              <a:buNone/>
            </a:pPr>
            <a:r>
              <a:rPr lang="en-US" sz="1400" dirty="0">
                <a:solidFill>
                  <a:srgbClr val="CF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main menu    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</a:t>
            </a:r>
            <a:pPr indent="0" marL="0">
              <a:buNone/>
            </a:pPr>
            <a:r>
              <a:rPr lang="en-US" sz="1400" dirty="0">
                <a:solidFill>
                  <a:srgbClr val="CF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help &amp; resources    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pPr indent="0" marL="0">
              <a:buNone/>
            </a:pPr>
            <a:r>
              <a:rPr lang="en-US" sz="1400" dirty="0">
                <a:solidFill>
                  <a:srgbClr val="CF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back    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pPr indent="0" marL="0">
              <a:buNone/>
            </a:pPr>
            <a:r>
              <a:rPr lang="en-US" sz="1400" dirty="0">
                <a:solidFill>
                  <a:srgbClr val="CF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exit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21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lean, dependency-light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5643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965960"/>
            <a:ext cx="640080" cy="640080"/>
          </a:xfrm>
          <a:prstGeom prst="ellipse">
            <a:avLst/>
          </a:prstGeom>
          <a:solidFill>
            <a:srgbClr val="F4F7F5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3" y="213238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64208" y="1947672"/>
            <a:ext cx="23134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21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 WhatsApp Cloud API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96112" y="260604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channel. Inbound via webhook, outbound text replies — no third-party gateway.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43400" y="1691640"/>
            <a:ext cx="345643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9432" y="1965960"/>
            <a:ext cx="640080" cy="640080"/>
          </a:xfrm>
          <a:prstGeom prst="ellipse">
            <a:avLst/>
          </a:prstGeom>
          <a:solidFill>
            <a:srgbClr val="F4F7F5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5853" y="213238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67528" y="1947672"/>
            <a:ext cx="23134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21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Node.js + Express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99432" y="260604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tiny dependencies (express, dotenv). One webhook server, one health probe.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46720" y="1691640"/>
            <a:ext cx="345643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02752" y="1965960"/>
            <a:ext cx="640080" cy="640080"/>
          </a:xfrm>
          <a:prstGeom prst="ellipse">
            <a:avLst/>
          </a:prstGeom>
          <a:solidFill>
            <a:srgbClr val="F4F7F5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9173" y="213238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70848" y="1947672"/>
            <a:ext cx="23134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21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Finite-state engine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02752" y="260604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Provider-agnostic conversation machine: handle(session, text) → message bubbles.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" y="3419856"/>
            <a:ext cx="345643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96112" y="3694176"/>
            <a:ext cx="640080" cy="640080"/>
          </a:xfrm>
          <a:prstGeom prst="ellipse">
            <a:avLst/>
          </a:prstGeom>
          <a:solidFill>
            <a:srgbClr val="F4F7F5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533" y="3860597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64208" y="3675888"/>
            <a:ext cx="23134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21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i18n content packs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96112" y="4334256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canonical; Amharic &amp; Afaan Oromo deep-merge over it with auto English fallback.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43400" y="3419856"/>
            <a:ext cx="345643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99432" y="3694176"/>
            <a:ext cx="640080" cy="640080"/>
          </a:xfrm>
          <a:prstGeom prst="ellipse">
            <a:avLst/>
          </a:prstGeom>
          <a:solidFill>
            <a:srgbClr val="F4F7F5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5853" y="3860597"/>
            <a:ext cx="307238" cy="30723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67528" y="3675888"/>
            <a:ext cx="23134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21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Pluggable session store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99432" y="4334256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for dev (6-hour TTL); swap for Redis/DB in production — same interface.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046720" y="3419856"/>
            <a:ext cx="345643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02752" y="3694176"/>
            <a:ext cx="640080" cy="640080"/>
          </a:xfrm>
          <a:prstGeom prst="ellipse">
            <a:avLst/>
          </a:prstGeom>
          <a:solidFill>
            <a:srgbClr val="F4F7F5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9173" y="3860597"/>
            <a:ext cx="307238" cy="30723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70848" y="3675888"/>
            <a:ext cx="231343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21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Built-in simulator + tests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02752" y="4334256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chat to test offline; test suite verifies every menu &amp; lesson link resolves.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21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engine, two drivers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conversation logic is decoupled from WhatsApp — the live webhook and the local CLI are thin drivers over the exact same engine.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0A2E2A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468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user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Webhook driver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12724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F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server.js · Express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F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verify · POST messages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3886200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0B6E4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4069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 driver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44348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F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scripts/cli.js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F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simulator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154680" y="3246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9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3794760" y="2514600"/>
            <a:ext cx="320040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0B6E4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794760" y="2514600"/>
            <a:ext cx="3200400" cy="128016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0" y="2788920"/>
            <a:ext cx="731520" cy="731520"/>
          </a:xfrm>
          <a:prstGeom prst="ellipse">
            <a:avLst/>
          </a:prstGeom>
          <a:solidFill>
            <a:srgbClr val="F4F7F5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9395" y="2979115"/>
            <a:ext cx="351130" cy="35113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794760" y="3611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21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Conversation Engine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794760" y="3950208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Finite-state machine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menus · lessons · quizzes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· glossary · language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7040880" y="3246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9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0" name="Shape 17"/>
          <p:cNvSpPr/>
          <p:nvPr/>
        </p:nvSpPr>
        <p:spPr>
          <a:xfrm>
            <a:off x="7635240" y="2514600"/>
            <a:ext cx="391363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149A6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863840" y="2670048"/>
            <a:ext cx="713232" cy="713232"/>
          </a:xfrm>
          <a:prstGeom prst="ellipse">
            <a:avLst/>
          </a:prstGeom>
          <a:solidFill>
            <a:srgbClr val="F4F7F5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9280" y="2855488"/>
            <a:ext cx="342351" cy="342351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8732520" y="267004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1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 packs (i18n)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8732520" y="298094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canonical · AM / OM merge over it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7635240" y="3749040"/>
            <a:ext cx="391363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149A6E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7863840" y="3904488"/>
            <a:ext cx="713232" cy="713232"/>
          </a:xfrm>
          <a:prstGeom prst="ellipse">
            <a:avLst/>
          </a:prstGeom>
          <a:solidFill>
            <a:srgbClr val="F4F7F5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9280" y="4089928"/>
            <a:ext cx="342351" cy="342351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8732520" y="390448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1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 store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8732520" y="4215384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now → Redis / DB in production</a:t>
            </a:r>
            <a:endParaRPr lang="en-US" sz="1050" dirty="0"/>
          </a:p>
        </p:txBody>
      </p:sp>
      <p:sp>
        <p:nvSpPr>
          <p:cNvPr id="30" name="Text 25"/>
          <p:cNvSpPr/>
          <p:nvPr/>
        </p:nvSpPr>
        <p:spPr>
          <a:xfrm>
            <a:off x="3794760" y="5074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B6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handle(session, text)  →  [ message bubbles ]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&amp; FUNCTIONALITY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21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learning tracks, shared toolkit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20640" cy="2788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91640"/>
            <a:ext cx="5120640" cy="868680"/>
          </a:xfrm>
          <a:prstGeom prst="rect">
            <a:avLst/>
          </a:prstGeom>
          <a:solidFill>
            <a:srgbClr val="0B6E4F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828800"/>
            <a:ext cx="603504" cy="603504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311" y="1985711"/>
            <a:ext cx="289682" cy="28968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18105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Youth Track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691640" y="21762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Ages 13–17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60120" y="2743200"/>
            <a:ext cx="4480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5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Foundations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5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Wellness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5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Engagement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5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Opportunities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5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Safety &amp; Well-Being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5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Literacy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28232" y="1691640"/>
            <a:ext cx="5120640" cy="2788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1691640"/>
            <a:ext cx="5120640" cy="868680"/>
          </a:xfrm>
          <a:prstGeom prst="rect">
            <a:avLst/>
          </a:prstGeom>
          <a:solidFill>
            <a:srgbClr val="0A2E2A"/>
          </a:solidFill>
          <a:ln/>
        </p:spPr>
      </p:sp>
      <p:sp>
        <p:nvSpPr>
          <p:cNvPr id="13" name="Shape 10"/>
          <p:cNvSpPr/>
          <p:nvPr/>
        </p:nvSpPr>
        <p:spPr>
          <a:xfrm>
            <a:off x="6702552" y="1828800"/>
            <a:ext cx="603504" cy="603504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9463" y="1985711"/>
            <a:ext cx="289682" cy="28968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479792" y="181051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Adult Track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7479792" y="21762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and over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748272" y="2743200"/>
            <a:ext cx="4480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5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Literacy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5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5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Security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5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Online Safety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521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Literacy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640080" y="4663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TOOLKIT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40080" y="4983480"/>
            <a:ext cx="269748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41248" y="5239512"/>
            <a:ext cx="603504" cy="603504"/>
          </a:xfrm>
          <a:prstGeom prst="ellipse">
            <a:avLst/>
          </a:prstGeom>
          <a:solidFill>
            <a:srgbClr val="0B6E4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159" y="5396423"/>
            <a:ext cx="289682" cy="28968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554480" y="518464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1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Paginated lessons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1554480" y="5660136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bubble per NEXT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3456432" y="4983480"/>
            <a:ext cx="269748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3657600" y="5239512"/>
            <a:ext cx="603504" cy="603504"/>
          </a:xfrm>
          <a:prstGeom prst="ellipse">
            <a:avLst/>
          </a:prstGeom>
          <a:solidFill>
            <a:srgbClr val="0B6E4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4511" y="5396423"/>
            <a:ext cx="289682" cy="28968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370832" y="518464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1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15-question quizzes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4370832" y="5660136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feedback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6272784" y="4983480"/>
            <a:ext cx="269748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6473952" y="5239512"/>
            <a:ext cx="603504" cy="603504"/>
          </a:xfrm>
          <a:prstGeom prst="ellipse">
            <a:avLst/>
          </a:prstGeom>
          <a:solidFill>
            <a:srgbClr val="0B6E4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0863" y="5396423"/>
            <a:ext cx="289682" cy="28968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187184" y="518464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1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languages</a:t>
            </a:r>
            <a:endParaRPr lang="en-US" sz="1250" dirty="0"/>
          </a:p>
        </p:txBody>
      </p:sp>
      <p:sp>
        <p:nvSpPr>
          <p:cNvPr id="33" name="Text 26"/>
          <p:cNvSpPr/>
          <p:nvPr/>
        </p:nvSpPr>
        <p:spPr>
          <a:xfrm>
            <a:off x="7187184" y="5660136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· AM · OM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9089136" y="4983480"/>
            <a:ext cx="269748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9290304" y="5239512"/>
            <a:ext cx="603504" cy="603504"/>
          </a:xfrm>
          <a:prstGeom prst="ellipse">
            <a:avLst/>
          </a:prstGeom>
          <a:solidFill>
            <a:srgbClr val="0B6E4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47215" y="5396423"/>
            <a:ext cx="289682" cy="28968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0003536" y="518464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521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Glossary · Help · About</a:t>
            </a:r>
            <a:endParaRPr lang="en-US" sz="1250" dirty="0"/>
          </a:p>
        </p:txBody>
      </p:sp>
      <p:sp>
        <p:nvSpPr>
          <p:cNvPr id="38" name="Text 30"/>
          <p:cNvSpPr/>
          <p:nvPr/>
        </p:nvSpPr>
        <p:spPr>
          <a:xfrm>
            <a:off x="10003536" y="5660136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key terms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 &amp; REWARDS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21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badges today to a reward loop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246120" cy="4297680"/>
          </a:xfrm>
          <a:prstGeom prst="roundRect">
            <a:avLst>
              <a:gd name="adj" fmla="val 2254"/>
            </a:avLst>
          </a:prstGeom>
          <a:solidFill>
            <a:srgbClr val="0A2E2A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TODAY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68680" y="2331720"/>
            <a:ext cx="731520" cy="731520"/>
          </a:xfrm>
          <a:prstGeom prst="ellipse">
            <a:avLst/>
          </a:prstGeom>
          <a:solidFill>
            <a:srgbClr val="0B6E4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875" y="2521915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2004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Completion &amp; quiz badges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3840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F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after every lesson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CF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out of 15 per quiz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F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reward message by score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931920" y="35661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9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4526280" y="1737360"/>
            <a:ext cx="7022592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754880" y="1965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IN DEVELOPMENT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54880" y="2331720"/>
            <a:ext cx="3291840" cy="1078992"/>
          </a:xfrm>
          <a:prstGeom prst="roundRect">
            <a:avLst>
              <a:gd name="adj" fmla="val 5932"/>
            </a:avLst>
          </a:prstGeom>
          <a:solidFill>
            <a:srgbClr val="F4F7F5"/>
          </a:solidFill>
          <a:ln/>
        </p:spPr>
      </p:sp>
      <p:sp>
        <p:nvSpPr>
          <p:cNvPr id="14" name="Shape 11"/>
          <p:cNvSpPr/>
          <p:nvPr/>
        </p:nvSpPr>
        <p:spPr>
          <a:xfrm>
            <a:off x="4919472" y="2560320"/>
            <a:ext cx="585216" cy="585216"/>
          </a:xfrm>
          <a:prstGeom prst="ellipse">
            <a:avLst/>
          </a:prstGeom>
          <a:solidFill>
            <a:srgbClr val="0B6E4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1628" y="2712476"/>
            <a:ext cx="280904" cy="28090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623560" y="249631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1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XP &amp; points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623560" y="280720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points per lesson and quiz answer.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8202168" y="2331720"/>
            <a:ext cx="3291840" cy="1078992"/>
          </a:xfrm>
          <a:prstGeom prst="roundRect">
            <a:avLst>
              <a:gd name="adj" fmla="val 5932"/>
            </a:avLst>
          </a:prstGeom>
          <a:solidFill>
            <a:srgbClr val="F4F7F5"/>
          </a:solidFill>
          <a:ln/>
        </p:spPr>
      </p:sp>
      <p:sp>
        <p:nvSpPr>
          <p:cNvPr id="19" name="Shape 15"/>
          <p:cNvSpPr/>
          <p:nvPr/>
        </p:nvSpPr>
        <p:spPr>
          <a:xfrm>
            <a:off x="8366760" y="2560320"/>
            <a:ext cx="585216" cy="585216"/>
          </a:xfrm>
          <a:prstGeom prst="ellipse">
            <a:avLst/>
          </a:prstGeom>
          <a:solidFill>
            <a:srgbClr val="0B6E4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8916" y="2712476"/>
            <a:ext cx="280904" cy="28090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070848" y="2496312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1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streaks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9070848" y="280720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consecutive days of learning.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754880" y="3529584"/>
            <a:ext cx="3291840" cy="1078992"/>
          </a:xfrm>
          <a:prstGeom prst="roundRect">
            <a:avLst>
              <a:gd name="adj" fmla="val 5932"/>
            </a:avLst>
          </a:prstGeom>
          <a:solidFill>
            <a:srgbClr val="F4F7F5"/>
          </a:solidFill>
          <a:ln/>
        </p:spPr>
      </p:sp>
      <p:sp>
        <p:nvSpPr>
          <p:cNvPr id="24" name="Shape 19"/>
          <p:cNvSpPr/>
          <p:nvPr/>
        </p:nvSpPr>
        <p:spPr>
          <a:xfrm>
            <a:off x="4919472" y="3758184"/>
            <a:ext cx="585216" cy="585216"/>
          </a:xfrm>
          <a:prstGeom prst="ellipse">
            <a:avLst/>
          </a:prstGeom>
          <a:solidFill>
            <a:srgbClr val="0B6E4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1628" y="3910340"/>
            <a:ext cx="280904" cy="28090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623560" y="369417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1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Levels &amp; progress bar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5623560" y="400507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journey from novice to pro.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8202168" y="3529584"/>
            <a:ext cx="3291840" cy="1078992"/>
          </a:xfrm>
          <a:prstGeom prst="roundRect">
            <a:avLst>
              <a:gd name="adj" fmla="val 5932"/>
            </a:avLst>
          </a:prstGeom>
          <a:solidFill>
            <a:srgbClr val="F4F7F5"/>
          </a:solidFill>
          <a:ln/>
        </p:spPr>
      </p:sp>
      <p:sp>
        <p:nvSpPr>
          <p:cNvPr id="29" name="Shape 23"/>
          <p:cNvSpPr/>
          <p:nvPr/>
        </p:nvSpPr>
        <p:spPr>
          <a:xfrm>
            <a:off x="8366760" y="3758184"/>
            <a:ext cx="585216" cy="585216"/>
          </a:xfrm>
          <a:prstGeom prst="ellipse">
            <a:avLst/>
          </a:prstGeom>
          <a:solidFill>
            <a:srgbClr val="0B6E4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8916" y="3910340"/>
            <a:ext cx="280904" cy="28090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070848" y="3694176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1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Leaderboards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9070848" y="400507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Friendly, opt-in regional rankings.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4754880" y="4727448"/>
            <a:ext cx="3291840" cy="1078992"/>
          </a:xfrm>
          <a:prstGeom prst="roundRect">
            <a:avLst>
              <a:gd name="adj" fmla="val 5932"/>
            </a:avLst>
          </a:prstGeom>
          <a:solidFill>
            <a:srgbClr val="F4F7F5"/>
          </a:solidFill>
          <a:ln/>
        </p:spPr>
      </p:sp>
      <p:sp>
        <p:nvSpPr>
          <p:cNvPr id="34" name="Shape 27"/>
          <p:cNvSpPr/>
          <p:nvPr/>
        </p:nvSpPr>
        <p:spPr>
          <a:xfrm>
            <a:off x="4919472" y="4956048"/>
            <a:ext cx="585216" cy="585216"/>
          </a:xfrm>
          <a:prstGeom prst="ellipse">
            <a:avLst/>
          </a:prstGeom>
          <a:solidFill>
            <a:srgbClr val="0B6E4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1628" y="5108204"/>
            <a:ext cx="280904" cy="280904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5623560" y="48920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1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Shareable certificates</a:t>
            </a:r>
            <a:endParaRPr lang="en-US" sz="1300" dirty="0"/>
          </a:p>
        </p:txBody>
      </p:sp>
      <p:sp>
        <p:nvSpPr>
          <p:cNvPr id="37" name="Text 29"/>
          <p:cNvSpPr/>
          <p:nvPr/>
        </p:nvSpPr>
        <p:spPr>
          <a:xfrm>
            <a:off x="5623560" y="520293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completion proof to share.</a:t>
            </a:r>
            <a:endParaRPr lang="en-US" sz="1050" dirty="0"/>
          </a:p>
        </p:txBody>
      </p:sp>
      <p:sp>
        <p:nvSpPr>
          <p:cNvPr id="38" name="Shape 30"/>
          <p:cNvSpPr/>
          <p:nvPr/>
        </p:nvSpPr>
        <p:spPr>
          <a:xfrm>
            <a:off x="8202168" y="4727448"/>
            <a:ext cx="3291840" cy="1078992"/>
          </a:xfrm>
          <a:prstGeom prst="roundRect">
            <a:avLst>
              <a:gd name="adj" fmla="val 5932"/>
            </a:avLst>
          </a:prstGeom>
          <a:solidFill>
            <a:srgbClr val="F4F7F5"/>
          </a:solidFill>
          <a:ln/>
        </p:spPr>
      </p:sp>
      <p:sp>
        <p:nvSpPr>
          <p:cNvPr id="39" name="Shape 31"/>
          <p:cNvSpPr/>
          <p:nvPr/>
        </p:nvSpPr>
        <p:spPr>
          <a:xfrm>
            <a:off x="8366760" y="4956048"/>
            <a:ext cx="585216" cy="585216"/>
          </a:xfrm>
          <a:prstGeom prst="ellipse">
            <a:avLst/>
          </a:prstGeom>
          <a:solidFill>
            <a:srgbClr val="0B6E4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18916" y="5108204"/>
            <a:ext cx="280904" cy="280904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9070848" y="48920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21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Unlockable rewards</a:t>
            </a:r>
            <a:endParaRPr lang="en-US" sz="1300" dirty="0"/>
          </a:p>
        </p:txBody>
      </p:sp>
      <p:sp>
        <p:nvSpPr>
          <p:cNvPr id="42" name="Text 33"/>
          <p:cNvSpPr/>
          <p:nvPr/>
        </p:nvSpPr>
        <p:spPr>
          <a:xfrm>
            <a:off x="9070848" y="520293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Airtime, data, or partner perks.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ENGAGEMENT · PLANNED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21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bot reaches out, not just responds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the bot is purely reactive. The roadmap adds scheduled, opt-in outbound messages to keep learners coming back — sent within WhatsApp policy windows / approved templates.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45643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331720"/>
            <a:ext cx="118872" cy="155448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7" name="Shape 5"/>
          <p:cNvSpPr/>
          <p:nvPr/>
        </p:nvSpPr>
        <p:spPr>
          <a:xfrm>
            <a:off x="932688" y="2606040"/>
            <a:ext cx="658368" cy="658368"/>
          </a:xfrm>
          <a:prstGeom prst="ellipse">
            <a:avLst/>
          </a:prstGeom>
          <a:solidFill>
            <a:srgbClr val="0B6E4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3864" y="2777216"/>
            <a:ext cx="316017" cy="31601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606040"/>
            <a:ext cx="2221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1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reminders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32688" y="3291840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“Ready for your next lesson?” nudges at a time the learner chooses.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43400" y="2331720"/>
            <a:ext cx="345643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43400" y="2331720"/>
            <a:ext cx="118872" cy="155448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3" name="Shape 10"/>
          <p:cNvSpPr/>
          <p:nvPr/>
        </p:nvSpPr>
        <p:spPr>
          <a:xfrm>
            <a:off x="4636008" y="2606040"/>
            <a:ext cx="658368" cy="658368"/>
          </a:xfrm>
          <a:prstGeom prst="ellipse">
            <a:avLst/>
          </a:prstGeom>
          <a:solidFill>
            <a:srgbClr val="0B6E4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184" y="2777216"/>
            <a:ext cx="316017" cy="31601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40680" y="2606040"/>
            <a:ext cx="2221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1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Drip lessons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636008" y="3291840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micro-lesson released on a daily or weekly schedule.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046720" y="2331720"/>
            <a:ext cx="345643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046720" y="2331720"/>
            <a:ext cx="118872" cy="155448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9" name="Shape 15"/>
          <p:cNvSpPr/>
          <p:nvPr/>
        </p:nvSpPr>
        <p:spPr>
          <a:xfrm>
            <a:off x="8339328" y="2606040"/>
            <a:ext cx="658368" cy="658368"/>
          </a:xfrm>
          <a:prstGeom prst="ellipse">
            <a:avLst/>
          </a:prstGeom>
          <a:solidFill>
            <a:srgbClr val="0B6E4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0504" y="2777216"/>
            <a:ext cx="316017" cy="31601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144000" y="2606040"/>
            <a:ext cx="2221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1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Re-engagement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8339328" y="3291840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Win-back messages for learners who’ve gone quiet for a while.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40080" y="4133088"/>
            <a:ext cx="345643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33088"/>
            <a:ext cx="118872" cy="155448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5" name="Shape 20"/>
          <p:cNvSpPr/>
          <p:nvPr/>
        </p:nvSpPr>
        <p:spPr>
          <a:xfrm>
            <a:off x="932688" y="4407408"/>
            <a:ext cx="658368" cy="658368"/>
          </a:xfrm>
          <a:prstGeom prst="ellipse">
            <a:avLst/>
          </a:prstGeom>
          <a:solidFill>
            <a:srgbClr val="0B6E4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3864" y="4578584"/>
            <a:ext cx="316017" cy="316017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737360" y="4407408"/>
            <a:ext cx="2221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1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Streak alerts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932688" y="5093208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“Don’t break your 5-day streak!” reminders before it lapses.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4343400" y="4133088"/>
            <a:ext cx="345643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343400" y="4133088"/>
            <a:ext cx="118872" cy="155448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1" name="Shape 25"/>
          <p:cNvSpPr/>
          <p:nvPr/>
        </p:nvSpPr>
        <p:spPr>
          <a:xfrm>
            <a:off x="4636008" y="4407408"/>
            <a:ext cx="658368" cy="658368"/>
          </a:xfrm>
          <a:prstGeom prst="ellipse">
            <a:avLst/>
          </a:prstGeom>
          <a:solidFill>
            <a:srgbClr val="0B6E4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7184" y="4578584"/>
            <a:ext cx="316017" cy="316017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440680" y="4407408"/>
            <a:ext cx="2221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1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New-content pings</a:t>
            </a:r>
            <a:endParaRPr lang="en-US" sz="1500" dirty="0"/>
          </a:p>
        </p:txBody>
      </p:sp>
      <p:sp>
        <p:nvSpPr>
          <p:cNvPr id="34" name="Text 27"/>
          <p:cNvSpPr/>
          <p:nvPr/>
        </p:nvSpPr>
        <p:spPr>
          <a:xfrm>
            <a:off x="4636008" y="5093208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 new modules, AI-literacy topics, or seasonal campaigns.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8046720" y="4133088"/>
            <a:ext cx="3456432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8046720" y="4133088"/>
            <a:ext cx="118872" cy="155448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7" name="Shape 30"/>
          <p:cNvSpPr/>
          <p:nvPr/>
        </p:nvSpPr>
        <p:spPr>
          <a:xfrm>
            <a:off x="8339328" y="4407408"/>
            <a:ext cx="658368" cy="658368"/>
          </a:xfrm>
          <a:prstGeom prst="ellipse">
            <a:avLst/>
          </a:prstGeom>
          <a:solidFill>
            <a:srgbClr val="0B6E4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0504" y="4578584"/>
            <a:ext cx="316017" cy="316017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9144000" y="4407408"/>
            <a:ext cx="2221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1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Progress check-ins</a:t>
            </a:r>
            <a:endParaRPr lang="en-US" sz="1500" dirty="0"/>
          </a:p>
        </p:txBody>
      </p:sp>
      <p:sp>
        <p:nvSpPr>
          <p:cNvPr id="40" name="Text 32"/>
          <p:cNvSpPr/>
          <p:nvPr/>
        </p:nvSpPr>
        <p:spPr>
          <a:xfrm>
            <a:off x="8339328" y="5093208"/>
            <a:ext cx="290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C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recap of points earned, badges, and what’s next.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0B6E4F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1280160"/>
            <a:ext cx="3657600" cy="3657600"/>
          </a:xfrm>
          <a:prstGeom prst="ellipse">
            <a:avLst/>
          </a:prstGeom>
          <a:solidFill>
            <a:srgbClr val="F2A900">
              <a:alpha val="2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685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 AHEAD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0972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today, growing next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777240" y="2286000"/>
            <a:ext cx="3520440" cy="2651760"/>
          </a:xfrm>
          <a:prstGeom prst="roundRect">
            <a:avLst>
              <a:gd name="adj" fmla="val 3103"/>
            </a:avLst>
          </a:prstGeom>
          <a:solidFill>
            <a:srgbClr val="0F3A35"/>
          </a:solidFill>
          <a:ln w="19050">
            <a:solidFill>
              <a:srgbClr val="0B6E4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2606040"/>
            <a:ext cx="777240" cy="777240"/>
          </a:xfrm>
          <a:prstGeom prst="ellipse">
            <a:avLst/>
          </a:prstGeom>
          <a:solidFill>
            <a:srgbClr val="0B6E4F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606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965960" y="27432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B6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35204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experience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097280" y="402336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flow, two tracks, lessons, quizzes, badges, 3-language scaffold, live on the Cloud API.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53712" y="2286000"/>
            <a:ext cx="3520440" cy="2651760"/>
          </a:xfrm>
          <a:prstGeom prst="roundRect">
            <a:avLst>
              <a:gd name="adj" fmla="val 3103"/>
            </a:avLst>
          </a:prstGeom>
          <a:solidFill>
            <a:srgbClr val="0F3A35"/>
          </a:solidFill>
          <a:ln w="19050">
            <a:solidFill>
              <a:srgbClr val="149A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28032" y="2606040"/>
            <a:ext cx="777240" cy="777240"/>
          </a:xfrm>
          <a:prstGeom prst="ellipse">
            <a:avLst/>
          </a:prstGeom>
          <a:solidFill>
            <a:srgbClr val="149A6E"/>
          </a:solidFill>
          <a:ln/>
        </p:spPr>
      </p:sp>
      <p:sp>
        <p:nvSpPr>
          <p:cNvPr id="14" name="Text 12"/>
          <p:cNvSpPr/>
          <p:nvPr/>
        </p:nvSpPr>
        <p:spPr>
          <a:xfrm>
            <a:off x="4828032" y="2606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742432" y="27432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9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73752" y="35204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Gamification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873752" y="402336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Points, streaks, levels, leaderboards, certificates and unlockable rewards.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330184" y="2286000"/>
            <a:ext cx="3520440" cy="2651760"/>
          </a:xfrm>
          <a:prstGeom prst="roundRect">
            <a:avLst>
              <a:gd name="adj" fmla="val 3103"/>
            </a:avLst>
          </a:prstGeom>
          <a:solidFill>
            <a:srgbClr val="0F3A35"/>
          </a:solidFill>
          <a:ln w="19050">
            <a:solidFill>
              <a:srgbClr val="F2A9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04504" y="2606040"/>
            <a:ext cx="777240" cy="77724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20" name="Text 18"/>
          <p:cNvSpPr/>
          <p:nvPr/>
        </p:nvSpPr>
        <p:spPr>
          <a:xfrm>
            <a:off x="8604504" y="2606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2E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9518904" y="27432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650224" y="35204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Proactive + scale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8650224" y="402336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nudges &amp; drip lessons, full AM/OM translations, Redis-backed sessions.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7240" y="5349240"/>
            <a:ext cx="777240" cy="7772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322" y="5551322"/>
            <a:ext cx="373075" cy="373075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737360" y="54406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FE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Zega Digital · ዜጋ ዲጂታል — digital literacy, one WhatsApp message at a time.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Zega Digital WhatsApp Bot</dc:title>
  <dc:subject>PptxGenJS Presentation</dc:subject>
  <dc:creator>Zega Digital</dc:creator>
  <cp:lastModifiedBy>Zega Digital</cp:lastModifiedBy>
  <cp:revision>1</cp:revision>
  <dcterms:created xsi:type="dcterms:W3CDTF">2026-06-17T07:07:52Z</dcterms:created>
  <dcterms:modified xsi:type="dcterms:W3CDTF">2026-06-17T07:07:52Z</dcterms:modified>
</cp:coreProperties>
</file>